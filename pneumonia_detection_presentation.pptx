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09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36192" y="36576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23744" y="36576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511296" y="36576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98848" y="36576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36576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73952" y="36576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61504" y="36576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49056" y="36576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132588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536192" y="132588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23744" y="132588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11296" y="132588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98848" y="132588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0" y="132588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73952" y="132588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61504" y="132588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49056" y="132588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228600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536192" y="228600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23744" y="228600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11296" y="228600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98848" y="228600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0" y="228600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73952" y="228600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61504" y="228600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449056" y="228600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324612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536192" y="324612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23744" y="324612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11296" y="324612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98848" y="324612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0" y="324612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73952" y="324612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61504" y="324612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449056" y="324612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" y="420624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536192" y="420624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23744" y="420624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511296" y="420624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498848" y="420624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486400" y="420624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473952" y="420624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461504" y="420624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449056" y="4206240"/>
            <a:ext cx="50292" cy="50292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Pneumonia Detection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vs Deep Learning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2286000" y="278892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85800" y="2971800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0D2B4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5800" y="2971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· RandomForest · Ensemble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74720" y="2971800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0D2B4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474720" y="2971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Transfer Learning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63640" y="2971800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0D2B4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63640" y="297180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9611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64008" cy="16642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 Disease Burden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" y="140817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is a leading cause of childhood mortality. Early, accurate diagnosis is critical for timely treatment.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90872" y="89611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90872" y="896112"/>
            <a:ext cx="64008" cy="16642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55464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Diagnostic Gap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55464" y="140817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X-ray reading requires expert radiologists, is time-consuming, and error-prone in resource-limited settings.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" y="277063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770632"/>
            <a:ext cx="64008" cy="16642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28803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Opportunity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" y="328269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DL models can assist in automated screening — this project compares classical and deep approaches.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90872" y="2770632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2770632"/>
            <a:ext cx="64008" cy="16642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55464" y="28803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55464" y="328269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≥ 0.80 (classical) and ≥ 0.90 (DL) on accuracy, sensitivity, specificity, F1, and AUC-ROC.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993392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5953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5,863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13350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822960"/>
            <a:ext cx="1993392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50592" y="85953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4,273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13350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152" y="822960"/>
            <a:ext cx="1993392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85953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13350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39712" y="822960"/>
            <a:ext cx="1993392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39712" y="859536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Splits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39712" y="13350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" y="1920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Preprocessing Stages</a:t>
            </a:r>
            <a:endParaRPr lang="en-US" sz="1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2267712"/>
            <a:ext cx="8631936" cy="2286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56032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256×256  →  CLAHE contrast enhancement  →  Gaussian denoising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9264" y="804672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804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13432" y="1024128"/>
            <a:ext cx="146304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426464"/>
            <a:ext cx="2011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426464"/>
            <a:ext cx="20116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" y="142646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texture (6 props × 12)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 histogram (18-dim)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descriptors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moments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/ edge statistics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features (128×128 flat)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2112" y="804672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82112" y="804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1024128"/>
            <a:ext cx="146304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68880" y="1426464"/>
            <a:ext cx="2011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68880" y="1426464"/>
            <a:ext cx="20116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42032" y="142646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60320" y="192024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→ 300 components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retained: ~95%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94960" y="804672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94960" y="804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39128" y="1024128"/>
            <a:ext cx="146304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81728" y="1426464"/>
            <a:ext cx="2011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1426464"/>
            <a:ext cx="20116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42646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192024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(RBF, C=10)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(500 trees)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SVM + RF + GB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07808" y="804672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07808" y="804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94576" y="1426464"/>
            <a:ext cx="2011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94576" y="1426464"/>
            <a:ext cx="20116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67728" y="142646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86016" y="192024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G-mean maximization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sens. &amp; spec. ≥ 0.80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Pipeline — ResNet18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35661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pretrained on ImageNet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(all layers)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 parameters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221992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2221992"/>
            <a:ext cx="35661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22199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606040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Linear(512 →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3639312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3639312"/>
            <a:ext cx="35661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63931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&amp; Schedule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0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|  LR = 5e-5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3  |  Factor = 0.5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804672"/>
            <a:ext cx="468172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60520" y="804672"/>
            <a:ext cx="4681728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33672" y="804672"/>
            <a:ext cx="4535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33672" y="1188720"/>
            <a:ext cx="4535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 (p=0.3)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±10°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translate ±5%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&amp; contrast jitter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2221992"/>
            <a:ext cx="468172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60520" y="2221992"/>
            <a:ext cx="4681728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33672" y="2221992"/>
            <a:ext cx="4535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33672" y="2606040"/>
            <a:ext cx="4535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4273 Pneumonia vs 1341 Normal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per-epoch sampling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3639312"/>
            <a:ext cx="468172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60520" y="3639312"/>
            <a:ext cx="4681728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33672" y="3639312"/>
            <a:ext cx="4535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33672" y="4023360"/>
            <a:ext cx="45354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20  |  Batch: 32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CUDA / CPU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by val loss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G-mean optimized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— Training History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04672"/>
            <a:ext cx="8631936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4206240"/>
            <a:ext cx="27889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4206240"/>
            <a:ext cx="25968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converges smoothly to ~0.005 by epoch 20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182112" y="4206240"/>
            <a:ext cx="27889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91840" y="4206240"/>
            <a:ext cx="25968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spikes after epoch 8 — overfitting signal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08192" y="4206240"/>
            <a:ext cx="27889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0" y="4206240"/>
            <a:ext cx="25968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plateaus at ~93.8% from epoch 5 onwards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— Results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04672"/>
            <a:ext cx="8631936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4114800"/>
            <a:ext cx="27432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47472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Best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7472" y="4462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0.998  |  Sens 0.998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82112" y="4114800"/>
            <a:ext cx="2743200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73552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73552" y="4462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~0.80–0.82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08192" y="4114800"/>
            <a:ext cx="27432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99632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99632" y="4462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but lower Acc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— Evaluation Results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04672"/>
            <a:ext cx="8631936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4114800"/>
            <a:ext cx="162763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56032" y="4114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6032" y="44622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993392" y="4114800"/>
            <a:ext cx="162763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993392" y="4114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93392" y="44622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30752" y="4114800"/>
            <a:ext cx="162763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730752" y="4114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30752" y="44622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68112" y="4114800"/>
            <a:ext cx="162763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68112" y="4114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68112" y="44622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05472" y="4114800"/>
            <a:ext cx="162763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205472" y="411480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05472" y="44622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Metrics — Comparative Analysis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777240"/>
          <a:ext cx="8631936" cy="4114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712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ResNet18 (DL)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Importance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correct predictions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(Recall)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Pneumonia detection — minimises false negatives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Normal identification — avoids over-diagnosis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mean of precision &amp; sensitivity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Discrimination ability across all thresholds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56032" y="4828032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Sensitivity is the most critical clinical metric — missing pneumonia is more dangerous than over-diagnosis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— Model Explainability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04672"/>
            <a:ext cx="8631936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4233672"/>
            <a:ext cx="27432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47472" y="423367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Cases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47472" y="453542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attention occasionally drifts to edges/artifacts (lower-left hot spots). Generally shows diffuse, low-activation lung fields.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182112" y="4233672"/>
            <a:ext cx="27432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73552" y="423367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Cases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73552" y="453542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activation on lung parenchyma and perihilar regions — consistent with actual consolidation and infiltrate patterns.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08192" y="4233672"/>
            <a:ext cx="274320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99632" y="423367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Alignment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99632" y="453542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model attends to radiologically relevant areas, providing partial interpretability via layer4 gradient maps.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 Findings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411480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0060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29844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24358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achieves AUC 0.998 — competitive with DL but at cost of low specificity (81.8%)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98424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192938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is the most balanced model: Specificity 90.2%, F1 94.2%, AUC 97.4%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67004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61518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dramatically outperforms classical on specificity — critical for avoiding over-diagnosis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35584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30098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≥ 94.4% across all models meets clinical screening requirements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404164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98678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confirms DL model focuses on clinically relevant lung regions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36592" y="1298448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10912" y="12435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diverges after epoch 8 — overfitting risk; early stopping recommended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6592" y="1984248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19293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optimized on test set as fallback — metrics may be optimistic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36592" y="2670048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10912" y="26151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 dataset — generalizability unknown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36592" y="3355848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10912" y="33009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paths reduce portability; no single-image inference script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10912" y="39867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711</Words>
  <Application>Microsoft Macintosh PowerPoint</Application>
  <PresentationFormat>On-screen Show (16:9)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Chest X-Ray Pneumonia Detection</dc:title>
  <dc:subject>PptxGenJS Presentation</dc:subject>
  <dc:creator>Baris</dc:creator>
  <cp:lastModifiedBy>Mahmut Baris Akinti</cp:lastModifiedBy>
  <cp:revision>3</cp:revision>
  <dcterms:created xsi:type="dcterms:W3CDTF">2026-05-10T09:26:30Z</dcterms:created>
  <dcterms:modified xsi:type="dcterms:W3CDTF">2026-05-11T06:44:27Z</dcterms:modified>
</cp:coreProperties>
</file>